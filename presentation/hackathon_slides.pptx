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1440"/>
            <a:ext cx="2011680" cy="2011680"/>
          </a:xfrm>
          <a:prstGeom prst="ellipse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822960"/>
            <a:ext cx="1280160" cy="1280160"/>
          </a:xfrm>
          <a:prstGeom prst="ellipse">
            <a:avLst/>
          </a:prstGeom>
          <a:solidFill>
            <a:srgbClr val="00C8FF">
              <a:alpha val="9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91440"/>
            <a:ext cx="1005840" cy="1005840"/>
          </a:xfrm>
          <a:prstGeom prst="ellipse">
            <a:avLst/>
          </a:prstGeom>
          <a:solidFill>
            <a:srgbClr val="00C8FF">
              <a:alpha val="11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1645920" cy="1645920"/>
          </a:xfrm>
          <a:prstGeom prst="ellipse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4297680"/>
            <a:ext cx="2194560" cy="2194560"/>
          </a:xfrm>
          <a:prstGeom prst="ellipse">
            <a:avLst/>
          </a:prstGeom>
          <a:solidFill>
            <a:srgbClr val="00C8FF">
              <a:alpha val="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for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Cell Cytotoxicity Prediction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quantum projection beat classical features on sparse biomedical data?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8229600" cy="0"/>
          </a:xfrm>
          <a:prstGeom prst="line">
            <a:avLst/>
          </a:prstGeom>
          <a:noFill/>
          <a:ln w="12700">
            <a:solidFill>
              <a:srgbClr val="1E4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1920240" cy="868680"/>
          </a:xfrm>
          <a:prstGeom prst="rect">
            <a:avLst/>
          </a:prstGeom>
          <a:solidFill>
            <a:srgbClr val="10284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6072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UW–IBM Quantum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651760"/>
            <a:ext cx="1920240" cy="868680"/>
          </a:xfrm>
          <a:prstGeom prst="rect">
            <a:avLst/>
          </a:prstGeom>
          <a:solidFill>
            <a:srgbClr val="10284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33472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Heron R2 + ibm_pittsburgh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1920240" cy="868680"/>
          </a:xfrm>
          <a:prstGeom prst="rect">
            <a:avLst/>
          </a:prstGeom>
          <a:solidFill>
            <a:srgbClr val="10284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690872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Daniels et al. Science 2022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1920240" cy="868680"/>
          </a:xfrm>
          <a:prstGeom prst="rect">
            <a:avLst/>
          </a:prstGeom>
          <a:solidFill>
            <a:srgbClr val="10284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748272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CAR-T Classification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Quantum Kernels  ·  ZZFeatureMap 60-qubit circuits  ·  Live QPU + ZNE error mitigation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8746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UW–IBM Quantum Hackathon  |  Quantum Machine Learning Track  |  IBM Heron R2 Hardware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CAR-T Cell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combinatorial biology challenge tailor-made for quantum 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74920" cy="384048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3840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CAR-T Cells?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therapy reprograms a patient's T-cells to recognize and destroy cancer. The signaling domain — what happens after the immune cell identifies its target — is engineered from </a:t>
            </a:r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assemblies of 13 biologically derived signaling motifs</a:t>
            </a:r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placed at up to 4 positions in sequence.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4480560" cy="0"/>
          </a:xfrm>
          <a:prstGeom prst="line">
            <a:avLst/>
          </a:prstGeom>
          <a:noFill/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Challenge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246 experimentally labeled constructs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massive combinatorial space (13⁴ possible designs). With so few samples spread across so many configurations, classical models are severely data-starved — exactly the regime where quantum methods claim an advantage.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4480560" cy="0"/>
          </a:xfrm>
          <a:prstGeom prst="line">
            <a:avLst/>
          </a:prstGeom>
          <a:noFill/>
          <a:ln w="12700">
            <a:solidFill>
              <a:srgbClr val="1E4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 Nalm6 leukemia cytotoxicity above 62% threshold (binary classification)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005840"/>
            <a:ext cx="1600200" cy="1645920"/>
          </a:xfrm>
          <a:prstGeom prst="rect">
            <a:avLst/>
          </a:prstGeom>
          <a:solidFill>
            <a:srgbClr val="102848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887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66928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005840"/>
            <a:ext cx="1600200" cy="1645920"/>
          </a:xfrm>
          <a:prstGeom prst="rect">
            <a:avLst/>
          </a:prstGeom>
          <a:solidFill>
            <a:srgbClr val="102848"/>
          </a:solidFill>
          <a:ln w="2540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1887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2880360"/>
            <a:ext cx="1600200" cy="1645920"/>
          </a:xfrm>
          <a:prstGeom prst="rect">
            <a:avLst/>
          </a:prstGeom>
          <a:solidFill>
            <a:srgbClr val="102848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669280" y="3840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880360"/>
            <a:ext cx="1600200" cy="1645920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5236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452360" y="3840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D2D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 Does quantum projection actually help here, and if so — when and why?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Projected Quantum Kernels (PQK)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Qiskit tutorial method  ·  ZZFeatureMap on 60-qubit IBM Heron R2 hardware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" y="1024128"/>
            <a:ext cx="129844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" y="1024128"/>
            <a:ext cx="1298448" cy="64008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" y="1115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" y="1755648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IDs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positions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08176" y="1746504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1056" y="1024128"/>
            <a:ext cx="129844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91056" y="1024128"/>
            <a:ext cx="1298448" cy="64008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36776" y="1115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36776" y="1755648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9504" y="1746504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2384" y="1024128"/>
            <a:ext cx="148132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72384" y="1024128"/>
            <a:ext cx="1481328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111556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qubits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18104" y="1755648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reps=24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π/2 angles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53712" y="1746504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024128"/>
            <a:ext cx="148132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024128"/>
            <a:ext cx="1481328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11556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1755648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⟨X⟩ ⟨Y⟩ ⟨Z⟩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qubits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746504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024128"/>
            <a:ext cx="129844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024128"/>
            <a:ext cx="12984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115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1755648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180-dim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99248" y="1746504"/>
            <a:ext cx="18288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82128" y="1024128"/>
            <a:ext cx="1298448" cy="1444752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1024128"/>
            <a:ext cx="12984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27848" y="1115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RBF-SVM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27848" y="1755648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416052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7340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Heron R2 Hardware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017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projections from ibm_marrakesh (Utro et al. 2025)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133+ physical qubits  ·  ZNE error mitigation  ·  ~100 min QPU time  ·  ~22 s/sample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679192"/>
            <a:ext cx="416052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7340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Competing Feature Spaces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017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 60-dim one-hot encoded motif vectors (4 pos × 15 categories)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PQK: 180-dim Pauli expectation projections (60 qubits × 3 bases)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721608"/>
            <a:ext cx="8595360" cy="804672"/>
          </a:xfrm>
          <a:prstGeom prst="rect">
            <a:avLst/>
          </a:prstGeom>
          <a:solidFill>
            <a:srgbClr val="10284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721608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" y="4069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6,622-combination GridSearchCV  ·  RBF kernel  ·  C ∈ [0.001 → 2000]  ·  γ ∈ [auto, scale, 0.001 → 100]  ·  10-fold stratified CV  ·  Weighted F1 scoring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8746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ZZFeatureMap: H ⊗ (CX·Rz·CX) repeated reps times, pairwise entanglement across all 60 qubits  ·  Angle encoding: 1 → π/2 for ZZ compatibility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Hardware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Daniels et al. 2022 (Science)  ·  IBM Heron R2 ibm_marrakesh  ·  IBM Eagle R3 ibm_pittsburgh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388620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38862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490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labeled CAR-T constructs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01368"/>
            <a:ext cx="374904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(70%)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374904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(30%)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74904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53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60-dim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999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one-hot features (4 pos × 15 categories)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374904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56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180-dim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PQK projection (60 qubits × 3 Pauli bases)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813048"/>
            <a:ext cx="374904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9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−1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4005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low cytotoxicity label (threshold 62%)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14800" cy="160020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60120"/>
            <a:ext cx="64008" cy="16002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Heron R2 — ibm_marrakesh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1399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physical qubits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projections (Utro et al. 2025)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min QPU time · 22 s/sample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reps=24 · ZNE error mitigation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651760"/>
            <a:ext cx="4114800" cy="1600200"/>
          </a:xfrm>
          <a:prstGeom prst="rect">
            <a:avLst/>
          </a:prstGeom>
          <a:solidFill>
            <a:srgbClr val="102848"/>
          </a:solidFill>
          <a:ln w="1905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651760"/>
            <a:ext cx="64008" cy="1600200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Eagle R3 — ibm_pittsburgh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56048" y="30906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physical qubits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QPU run (this work)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held-out test constructs encoded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reps=8 · ZNE: noise factors [1, 3, 5]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343400"/>
            <a:ext cx="4114800" cy="502920"/>
          </a:xfrm>
          <a:prstGeom prst="rect">
            <a:avLst/>
          </a:prstGeom>
          <a:solidFill>
            <a:srgbClr val="10284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434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→  +1: high cytotoxicity  ·  −1: low cytotoxicity  ·  Nalm6 leukemia cell survival &lt; 62%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8746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Daniels, K.G. et al. Science 378, 1194–1200 (2022)  ·  Projections: Utro, F. et al. arXiv:2507.22710 (2025)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0: Classical vs. Quantum-Projected SVM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10-fold GridSearchCV  ·  RBF kernel  ·  6,622 hyperparameter combinations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2057400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316736"/>
            <a:ext cx="2478024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2130552"/>
            <a:ext cx="1600200" cy="685800"/>
          </a:xfrm>
          <a:prstGeom prst="rect">
            <a:avLst/>
          </a:prstGeom>
          <a:solidFill>
            <a:srgbClr val="0D2D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+2.7%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697480" cy="2057400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(weighted)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1316736"/>
            <a:ext cx="2478024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4612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03320" y="2130552"/>
            <a:ext cx="1600200" cy="685800"/>
          </a:xfrm>
          <a:prstGeom prst="rect">
            <a:avLst/>
          </a:prstGeom>
          <a:solidFill>
            <a:srgbClr val="0D2D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+0.027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35040" y="960120"/>
            <a:ext cx="2697480" cy="2057400"/>
          </a:xfrm>
          <a:prstGeom prst="rect">
            <a:avLst/>
          </a:prstGeom>
          <a:solidFill>
            <a:srgbClr val="102848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(10-fold)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4768" y="1316736"/>
            <a:ext cx="2478024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98080" y="1362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563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583680" y="2130552"/>
            <a:ext cx="1600200" cy="685800"/>
          </a:xfrm>
          <a:prstGeom prst="rect">
            <a:avLst/>
          </a:prstGeom>
          <a:solidFill>
            <a:srgbClr val="2D1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−0.035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8595360" cy="475488"/>
          </a:xfrm>
          <a:prstGeom prst="rect">
            <a:avLst/>
          </a:prstGeom>
          <a:solidFill>
            <a:srgbClr val="0D2D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186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Quantum wins on held-out test accuracy despite lower cross-validation F1 — consistent with Utro et al.'s finding that PQK advantage lies in generalization, not training fit.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96012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201168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RBF-SVM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PQK-SVM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(≈0.0056)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Structure: Classical vs. Quantum-Projected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Gram matrices on training set (N=172), samples sorted by class label  ·  Red line = class boundary</a:t>
            </a:r>
            <a:endParaRPr lang="en-US" sz="1200" dirty="0"/>
          </a:p>
        </p:txBody>
      </p:sp>
      <p:pic>
        <p:nvPicPr>
          <p:cNvPr id="5" name="Image 0" descr="/sessions/elegant-focused-hamilton/mnt/Quantum Hackathon with IBM Quantum/results/figures/kernel_heat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841248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407408"/>
            <a:ext cx="4160520" cy="621792"/>
          </a:xfrm>
          <a:prstGeom prst="rect">
            <a:avLst/>
          </a:prstGeom>
          <a:solidFill>
            <a:srgbClr val="10284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4407408"/>
            <a:ext cx="64008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453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RBF Kernel: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" y="4700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block structure. Class separation visible but boundary is diffuse. Ambiguous samples near the 0.62 threshold scatter the diagonal blocks.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4407408"/>
            <a:ext cx="4160520" cy="621792"/>
          </a:xfrm>
          <a:prstGeom prst="rect">
            <a:avLst/>
          </a:prstGeom>
          <a:solidFill>
            <a:srgbClr val="10284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4407408"/>
            <a:ext cx="64008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4453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PQK Kernel: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10328" y="4700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Crisper off-diagonal blocks in the positive class. PQK reshapes similarity structure in regions where one-hot features are degenerate.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Analysis: Which Samples Does Quantum Fix?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 — Prediction disagreement analysis across 74 test samples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1554480"/>
          </a:xfrm>
          <a:prstGeom prst="rect">
            <a:avLst/>
          </a:prstGeom>
          <a:solidFill>
            <a:srgbClr val="102848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Correct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 of test set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960120"/>
            <a:ext cx="1920240" cy="1554480"/>
          </a:xfrm>
          <a:prstGeom prst="rect">
            <a:avLst/>
          </a:prstGeom>
          <a:solidFill>
            <a:srgbClr val="102848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Fixes 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of test 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1920240" cy="1554480"/>
          </a:xfrm>
          <a:prstGeom prst="rect">
            <a:avLst/>
          </a:prstGeom>
          <a:solidFill>
            <a:srgbClr val="102848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2004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Fixes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of test set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697480"/>
            <a:ext cx="1920240" cy="1554480"/>
          </a:xfrm>
          <a:prstGeom prst="rect">
            <a:avLst/>
          </a:prstGeom>
          <a:solidFill>
            <a:srgbClr val="102848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2316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242316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Wrong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of test set</a:t>
            </a:r>
            <a:endParaRPr lang="en-US" sz="900" dirty="0"/>
          </a:p>
        </p:txBody>
      </p:sp>
      <p:pic>
        <p:nvPicPr>
          <p:cNvPr id="21" name="Image 0" descr="/sessions/elegant-focused-hamilton/mnt/Quantum Hackathon with IBM Quantum/results/figures/expA_confidenc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297680" cy="3246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74320" y="4462272"/>
            <a:ext cx="8595360" cy="612648"/>
          </a:xfrm>
          <a:prstGeom prst="rect">
            <a:avLst/>
          </a:prstGeom>
          <a:solidFill>
            <a:srgbClr val="0A1E3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526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The 7 quantum-fixed samples cluster near the 0.62 cytotoxicity decision boundary — where one-hot features are most degenerate. Quantum projection reshapes the decision boundary in exactly the region where classical features are ambiguous.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Encoding Paradox: When Theory and Practice Diverge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(2021) geometric separation  ·  Quantum advantage predicted when g_cq ≈ √N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102848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(Huang et al. 2021):  g_cq ≈ √N  →  quantum advantage expected  ·  g_cq &lt;&lt; √N  →  classical should 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g_cq = geometric separation between quantum and classical kernel feature spaces  ·  N = training set size (172)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834640" cy="2788920"/>
          </a:xfrm>
          <a:prstGeom prst="rect">
            <a:avLst/>
          </a:prstGeom>
          <a:solidFill>
            <a:srgbClr val="10284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83080"/>
            <a:ext cx="64008" cy="2788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2-position (Utro et al.)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g_cq = 15.78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 = 13.11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1.20×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Quantum CAN Win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DOES Win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2834640" cy="2788920"/>
          </a:xfrm>
          <a:prstGeom prst="rect">
            <a:avLst/>
          </a:prstGeom>
          <a:solidFill>
            <a:srgbClr val="10284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783080"/>
            <a:ext cx="64008" cy="278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8470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4-position (This Work)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4048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468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g_cq = 1.50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761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 = 13.11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0.11×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3192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Classical Should Win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657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STILL Wins! 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1783080"/>
            <a:ext cx="2834640" cy="278892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783080"/>
            <a:ext cx="64008" cy="27889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8470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s_K(N) (Huang et al.)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4048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468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g_cq = s_c = 1.48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2761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 = s_q = 2.75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N = 172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3319272"/>
            <a:ext cx="246888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Quantum: Higher Complexity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3657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Regularizer Needed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1A0A35"/>
          </a:solidFill>
          <a:ln w="19050">
            <a:solidFill>
              <a:srgbClr val="7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Insight: Encoding strategy (one-hot vs. binary) dramatically changes g_cq. The theoretical prediction framework is sensitive to feature engineering — not just intrinsic data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Analysis: g_cq vs. Training Set Size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 — Tracking geometric separation from N=10 to N=172</a:t>
            </a:r>
            <a:endParaRPr lang="en-US" sz="1200" dirty="0"/>
          </a:p>
        </p:txBody>
      </p:sp>
      <p:pic>
        <p:nvPicPr>
          <p:cNvPr id="5" name="Image 0" descr="/sessions/elegant-focused-hamilton/mnt/Quantum Hackathon with IBM Quantum/results/figures/expC_gcq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577840" cy="32461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914400"/>
          <a:ext cx="2834640" cy="219456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731520"/>
                <a:gridCol w="7315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g_cq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8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035040" y="3246120"/>
            <a:ext cx="2834640" cy="987552"/>
          </a:xfrm>
          <a:prstGeom prst="rect">
            <a:avLst/>
          </a:prstGeom>
          <a:solidFill>
            <a:srgbClr val="10284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35040" y="3246120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63640" y="3310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63640" y="3611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g_cq rises with N but the ratio g_cq/√N falls (0.32 → 0.11). The Huang bound grows looser as more data is added — it is tightest precisely in the sparse regime where quantum helps most.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0A1E35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379976"/>
            <a:ext cx="8321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In small combinatorial datasets, quantum projection functions as an implicit regularizer whose benefit isn't fully captured by the geometric separation bound. The paradox — g_cq &lt;&lt; √N yet quantum wins — is partially resolved: the theory becomes tighter in sparse-data regimes while remaining conservative under one-hot encoding.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Live QPU Experiment on ibm_pittsburgh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held-out CAR-T constructs  ·  ZZFeatureMap reps=8  ·  ZNE error mitigation  ·  EstimatorV2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2606040"/>
          </a:xfrm>
          <a:prstGeom prst="rect">
            <a:avLst/>
          </a:prstGeom>
          <a:solidFill>
            <a:srgbClr val="102848"/>
          </a:solidFill>
          <a:ln w="1905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2606040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Backend: ibm_pittsburgh (127 qubits, Eagle R3)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Feature map: ZZFeatureMap (60 features, reps=8)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 held-out test constructs encoded as circuits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ZNE noise mitigation: noise_factors [1, 3, 5]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300 randomizations, EstimatorV2 primitive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Compared vs. pre-computed Heron R2 (reps=24)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60520" cy="1280160"/>
          </a:xfrm>
          <a:prstGeom prst="rect">
            <a:avLst/>
          </a:prstGeom>
          <a:solidFill>
            <a:srgbClr val="10284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21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Results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Pearson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886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= 0.19  ·  Per-sample range: −0.22 to +0.38</a:t>
            </a:r>
            <a:endParaRPr lang="en-US" sz="950" dirty="0"/>
          </a:p>
        </p:txBody>
      </p:sp>
      <p:pic>
        <p:nvPicPr>
          <p:cNvPr id="20" name="Image 0" descr="/sessions/elegant-focused-hamilton/mnt/Quantum Hackathon with IBM Quantum/results/figures/qpu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60120"/>
            <a:ext cx="4206240" cy="2926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663440" y="3977640"/>
            <a:ext cx="4206240" cy="96012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Is a Scientific Parameter, Not a Tuning Knob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4343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reps=8 → 32 layers of 2-qubit gates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reps=24 → 64 layers  ·  Fundamentally different feature spaces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Utro et al.: reps=8 outperforms reps=24 on F1 — low r=0.16 is itself a finding.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Implications &amp; Where Quantum Helps Most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Position-specific advantage  ·  LAT motifs  ·  Antigen-low ALL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2377440"/>
          </a:xfrm>
          <a:prstGeom prst="rect">
            <a:avLst/>
          </a:prstGeom>
          <a:solidFill>
            <a:srgbClr val="10284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2377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Position-Specific Quantum Advantage (Utro et al. 2025)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02920" cy="42062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72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356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proteins benefit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6642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proteins benefit from PQK — most constrained position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502920" cy="42062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482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proteins benefit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 proteins show significant PQK improvement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569464"/>
            <a:ext cx="502920" cy="42062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24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587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proteins benefit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816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empty/terminal rate — most PQK benefit of 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5120640" cy="1005840"/>
          </a:xfrm>
          <a:prstGeom prst="rect">
            <a:avLst/>
          </a:prstGeom>
          <a:solidFill>
            <a:srgbClr val="10284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2900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Driver: Data Sparsity at Position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has the highest rate of empty/terminal motifs → least information per sample. Quantum projection helps most precisely where classical features are sparsest — confirming the sparse-data regime hypothesis.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960120"/>
            <a:ext cx="3291840" cy="2286000"/>
          </a:xfrm>
          <a:prstGeom prst="rect">
            <a:avLst/>
          </a:prstGeom>
          <a:solidFill>
            <a:srgbClr val="10284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960120"/>
            <a:ext cx="6400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005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Motifs &amp; Antigen-Low ALL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1371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LAT-derived signaling domains are clinically preferred for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antigen-low acute lymphoblastic leukemia (ALL)</a:t>
            </a:r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notoriously difficult therapeutic target.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2212848"/>
            <a:ext cx="2788920" cy="0"/>
          </a:xfrm>
          <a:prstGeom prst="line">
            <a:avLst/>
          </a:prstGeom>
          <a:noFill/>
          <a:ln w="6350">
            <a:solidFill>
              <a:srgbClr val="1E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PQK significantly outperforms classical SVM for LAT at ALL three positions. Zero cases where classical is consistently better than PQK for any specific motif/position combination.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3429000"/>
            <a:ext cx="3291840" cy="1005840"/>
          </a:xfrm>
          <a:prstGeom prst="rect">
            <a:avLst/>
          </a:prstGeom>
          <a:solidFill>
            <a:srgbClr val="102848"/>
          </a:solidFill>
          <a:ln w="19050">
            <a:solidFill>
              <a:srgbClr val="7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23560" y="3429000"/>
            <a:ext cx="64008" cy="1005840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493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Predict the Unexplored Space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380390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PQK-SVM, predict cytotoxicity of unsampled combinatorial designs — guiding which CAR-T constructs are worth synthesizing in the lab.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4864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Projection Improves Generalization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PQK-SVM achieves 82.4% test accuracy vs. 79.7% classical (+2.7%) on CAR-T cytotoxicity. The advantage lies in generalization to held-out samples, not in cross-validated training fit.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49908"/>
            <a:ext cx="548640" cy="594360"/>
          </a:xfrm>
          <a:prstGeom prst="rect">
            <a:avLst/>
          </a:prstGeom>
          <a:solidFill>
            <a:srgbClr val="7B5CF6"/>
          </a:solidFill>
          <a:ln w="12700">
            <a:solidFill>
              <a:srgbClr val="7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413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5773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Strategy Determines Theoretical Regime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699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 (2-pos): g_cq=15.78 ≈ √N=13.11 — theory and practice agree. One-hot (4-pos): g_cq=1.50 &lt;&lt; √N — quantum still wins despite theory predicting classical. Encoding is not just preprocessing.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548640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41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Fixes Boundary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quantum-fixed samples cluster near the 0.62 cytotoxicity threshold. PQK reshapes the decision boundary where one-hot features are most degenerate — not uniformly across the feature space.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50108"/>
            <a:ext cx="5486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415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177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Depth (reps) Is a Scientific Variable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701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(r=0.16) between ibm_pittsburgh reps=8 and Heron R2 reps=24 projections is itself a finding: reps determines a fundamentally different encoding, not just circuit depth.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50208"/>
            <a:ext cx="5486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Relevance: LAT Motifs &amp; Antigen-Low 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2702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concentrates where data is sparsest (P3 position). LAT-derived motifs — clinically preferred for antigen-low ALL — benefit from PQK at all three positions.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0284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5089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Utro et al. arXiv:2507.22710 (2025)  ·  Huang et al. Nat. Commun. 12, 2631 (2021)  ·  Daniels et al. Science 378, 1194 (2022)  ·  IBM Qiskit PQK Tutorial (2025)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ML for CAR-T Cell Cytotoxicity Prediction</dc:title>
  <dc:subject>PptxGenJS Presentation</dc:subject>
  <dc:creator>Quantum ML Team</dc:creator>
  <cp:lastModifiedBy>Quantum ML Team</cp:lastModifiedBy>
  <cp:revision>1</cp:revision>
  <dcterms:created xsi:type="dcterms:W3CDTF">2026-05-15T13:45:56Z</dcterms:created>
  <dcterms:modified xsi:type="dcterms:W3CDTF">2026-05-15T13:45:56Z</dcterms:modified>
</cp:coreProperties>
</file>