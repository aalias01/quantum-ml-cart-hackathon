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solidFill>
              <a:srgbClr val="FF8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8C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B4D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HIGH cytotox
(+1)</c:v>
                  </c:pt>
                  <c:pt idx="1">
                    <c:v>LOW cytotox
(−1)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128</c:v>
                </c:pt>
                <c:pt idx="1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3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62B4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Classical RBF-SVM</c:v>
                </c:pt>
              </c:strCache>
            </c:strRef>
          </c:tx>
          <c:spPr>
            <a:solidFill>
              <a:srgbClr val="4A90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CV F1
(10-fold)</c:v>
                  </c:pt>
                  <c:pt idx="1">
                    <c:v>Test
Accuracy</c:v>
                  </c:pt>
                  <c:pt idx="2">
                    <c:v>Test
F1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0.773</c:v>
                </c:pt>
                <c:pt idx="1">
                  <c:v>0.797</c:v>
                </c:pt>
                <c:pt idx="2">
                  <c:v>0.797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Quantum PQK-SVM</c:v>
                </c:pt>
              </c:strCache>
            </c:strRef>
          </c:tx>
          <c:spPr>
            <a:solidFill>
              <a:srgbClr val="FF8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CV F1
(10-fold)</c:v>
                  </c:pt>
                  <c:pt idx="1">
                    <c:v>Test
Accuracy</c:v>
                  </c:pt>
                  <c:pt idx="2">
                    <c:v>Test
F1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0.738</c:v>
                </c:pt>
                <c:pt idx="1">
                  <c:v>0.824</c:v>
                </c:pt>
                <c:pt idx="2">
                  <c:v>0.824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"/>
        </c:scaling>
        <c:delete val="0"/>
        <c:axPos val="l"/>
        <c:majorGridlines>
          <c:spPr>
            <a:ln w="6350" cap="flat">
              <a:solidFill>
                <a:srgbClr val="11223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B8D4E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2B40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CC71"/>
              </a:solidFill>
              <a:effectLst/>
            </c:spPr>
          </c:dPt>
          <c:dPt>
            <c:idx val="1"/>
            <c:bubble3D val="0"/>
            <c:spPr>
              <a:solidFill>
                <a:srgbClr val="FF8C00"/>
              </a:solidFill>
              <a:effectLst/>
            </c:spPr>
          </c:dPt>
          <c:dPt>
            <c:idx val="2"/>
            <c:bubble3D val="0"/>
            <c:spPr>
              <a:solidFill>
                <a:srgbClr val="4A90D9"/>
              </a:solidFill>
              <a:effectLst/>
            </c:spPr>
          </c:dPt>
          <c:dPt>
            <c:idx val="3"/>
            <c:bubble3D val="0"/>
            <c:spPr>
              <a:solidFill>
                <a:srgbClr val="E74C3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Both correct (54)</c:v>
                </c:pt>
                <c:pt idx="1">
                  <c:v>Quantum fixes (7)</c:v>
                </c:pt>
                <c:pt idx="2">
                  <c:v>Classical fixes (5)</c:v>
                </c:pt>
                <c:pt idx="3">
                  <c:v>Both wrong (8)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54</c:v>
                </c:pt>
                <c:pt idx="1">
                  <c:v>7</c:v>
                </c:pt>
                <c:pt idx="2">
                  <c:v>5</c:v>
                </c:pt>
                <c:pt idx="3">
                  <c:v>8</c:v>
                </c:pt>
              </c:numCache>
            </c:numRef>
          </c:val>
        </c:ser>
        <c:firstSliceAng val="0"/>
        <c:holeSize val="4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B8D4E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2B40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Pearson r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S0</c:v>
                  </c:pt>
                  <c:pt idx="1">
                    <c:v>S1</c:v>
                  </c:pt>
                  <c:pt idx="2">
                    <c:v>S2</c:v>
                  </c:pt>
                  <c:pt idx="3">
                    <c:v>S3</c:v>
                  </c:pt>
                  <c:pt idx="4">
                    <c:v>S4</c:v>
                  </c:pt>
                  <c:pt idx="5">
                    <c:v>S5</c:v>
                  </c:pt>
                  <c:pt idx="6">
                    <c:v>S6</c:v>
                  </c:pt>
                  <c:pt idx="7">
                    <c:v>S7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0.07</c:v>
                </c:pt>
                <c:pt idx="1">
                  <c:v>-0.219</c:v>
                </c:pt>
                <c:pt idx="2">
                  <c:v>0.377</c:v>
                </c:pt>
                <c:pt idx="3">
                  <c:v>0.325</c:v>
                </c:pt>
                <c:pt idx="4">
                  <c:v>0.282</c:v>
                </c:pt>
                <c:pt idx="5">
                  <c:v>0.323</c:v>
                </c:pt>
                <c:pt idx="6">
                  <c:v>0.097</c:v>
                </c:pt>
                <c:pt idx="7">
                  <c:v>0.038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0.3"/>
        </c:scaling>
        <c:delete val="0"/>
        <c:axPos val="l"/>
        <c:majorGridlines>
          <c:spPr>
            <a:ln w="6350" cap="flat">
              <a:solidFill>
                <a:srgbClr val="11223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D4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62B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45720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132588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219456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306324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393192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0" y="4800600"/>
            <a:ext cx="4663440" cy="0"/>
          </a:xfrm>
          <a:prstGeom prst="line">
            <a:avLst/>
          </a:prstGeom>
          <a:noFill/>
          <a:ln w="19050">
            <a:solidFill>
              <a:srgbClr val="1122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24928" y="29260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56448" y="116128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56448" y="202996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9408" y="289864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19488" y="29260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19488" y="116128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59568" y="376732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08208" y="202996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808208" y="4636008"/>
            <a:ext cx="329184" cy="329184"/>
          </a:xfrm>
          <a:prstGeom prst="rect">
            <a:avLst/>
          </a:prstGeom>
          <a:solidFill>
            <a:srgbClr val="00B4D8">
              <a:alpha val="6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1325880"/>
            <a:ext cx="0" cy="868680"/>
          </a:xfrm>
          <a:prstGeom prst="line">
            <a:avLst/>
          </a:prstGeom>
          <a:noFill/>
          <a:ln w="12700">
            <a:solidFill>
              <a:srgbClr val="00B4D8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784080" y="457200"/>
            <a:ext cx="0" cy="868680"/>
          </a:xfrm>
          <a:prstGeom prst="line">
            <a:avLst/>
          </a:prstGeom>
          <a:noFill/>
          <a:ln w="12700">
            <a:solidFill>
              <a:srgbClr val="00B4D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972800" y="2194560"/>
            <a:ext cx="0" cy="2606040"/>
          </a:xfrm>
          <a:prstGeom prst="line">
            <a:avLst/>
          </a:prstGeom>
          <a:noFill/>
          <a:ln w="12700">
            <a:solidFill>
              <a:srgbClr val="00B4D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0" y="1554480"/>
            <a:ext cx="6858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17373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Quantum ML for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457200" y="2514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CAR-T Cytotoxicity Prediction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457200" y="34290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Quantum Kernels on IBM Heron R2 Hardware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2286000" cy="329184"/>
          </a:xfrm>
          <a:prstGeom prst="rect">
            <a:avLst/>
          </a:prstGeom>
          <a:solidFill>
            <a:srgbClr val="112236"/>
          </a:solidFill>
          <a:ln w="12700">
            <a:solidFill>
              <a:srgbClr val="0090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233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60-qubit ZZFeatureMap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26080" y="4023360"/>
            <a:ext cx="2286000" cy="329184"/>
          </a:xfrm>
          <a:prstGeom prst="rect">
            <a:avLst/>
          </a:prstGeom>
          <a:solidFill>
            <a:srgbClr val="112236"/>
          </a:solidFill>
          <a:ln w="12700">
            <a:solidFill>
              <a:srgbClr val="0090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26080" y="40233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 live run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94960" y="4023360"/>
            <a:ext cx="2286000" cy="329184"/>
          </a:xfrm>
          <a:prstGeom prst="rect">
            <a:avLst/>
          </a:prstGeom>
          <a:solidFill>
            <a:srgbClr val="112236"/>
          </a:solidFill>
          <a:ln w="12700">
            <a:solidFill>
              <a:srgbClr val="0090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40233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 et al. theory probe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875520" y="66111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Problem: Designing Better CAR-T Cells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394960" cy="512064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Clinical Challenge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54864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45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CAR-T Cell Therapy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Chimeric Antigen Receptor T-cells are engineered to recognize and kill cancer cells. Signaling domains determine how aggressively the modified T-cell attacks.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54864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249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Design Space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9992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CAR-T construct chains up to 4 signaling motifs drawn from 13 biologically derived sequences — a combinatorial space too large to screen exhaustively in the lab.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03904"/>
            <a:ext cx="54864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03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Daniels et al. (Science, 2022) measured cytotoxicity of 246 constructs against Nalm6 leukemia cells. Only 246 labeled examples across a vast combinatorial landscape — a sparse-data problem by definition.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882896"/>
            <a:ext cx="54864" cy="685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8828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ML Task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15721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classification: does this construct produce HIGH cytotoxicity (survival rate &lt; 62%)? Accurate prediction lets researchers prioritize which constructs to synthesize and test.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0" y="1051560"/>
            <a:ext cx="5943600" cy="512064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13 Signaling Motifs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86400" cy="438912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Protein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Binding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PLCγ1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Grb2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IL7Rα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PI3K, Grb2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Vav1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LAIR1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SHP-1/2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SLP76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TRAF2/1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LMP1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TRAF2/1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IRAK1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Pellino/TIFA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371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CONSTRUCTS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84048" y="21488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Nalm6 cytotox labeled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2651760" cy="1371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73552" y="13716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1488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samples, stratified split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051560"/>
            <a:ext cx="2651760" cy="1371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99632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81344" y="13716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99632" y="21488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97696" y="1051560"/>
            <a:ext cx="2651760" cy="1371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07424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DIMENSIONS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89136" y="13716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1488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| 180 quantum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651760"/>
            <a:ext cx="713232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2788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Encoding Pipeline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3246120"/>
            <a:ext cx="1143000" cy="1051560"/>
          </a:xfrm>
          <a:prstGeom prst="rect">
            <a:avLst/>
          </a:prstGeom>
          <a:solidFill>
            <a:srgbClr val="112236"/>
          </a:solidFill>
          <a:ln w="12700">
            <a:solidFill>
              <a:srgbClr val="1122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Motif IDs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(P1–P4)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construct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609344" y="3767328"/>
            <a:ext cx="192024" cy="0"/>
          </a:xfrm>
          <a:prstGeom prst="line">
            <a:avLst/>
          </a:prstGeom>
          <a:noFill/>
          <a:ln w="19050">
            <a:solidFill>
              <a:srgbClr val="6A8F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10512" y="3246120"/>
            <a:ext cx="1143000" cy="1051560"/>
          </a:xfrm>
          <a:prstGeom prst="rect">
            <a:avLst/>
          </a:prstGeom>
          <a:solidFill>
            <a:srgbClr val="112236"/>
          </a:solidFill>
          <a:ln w="12700">
            <a:solidFill>
              <a:srgbClr val="11223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10512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60-dim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10512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15 classes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962656" y="3767328"/>
            <a:ext cx="192024" cy="0"/>
          </a:xfrm>
          <a:prstGeom prst="line">
            <a:avLst/>
          </a:prstGeom>
          <a:noFill/>
          <a:ln w="19050">
            <a:solidFill>
              <a:srgbClr val="6A8F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63824" y="3246120"/>
            <a:ext cx="1143000" cy="1051560"/>
          </a:xfrm>
          <a:prstGeom prst="rect">
            <a:avLst/>
          </a:prstGeom>
          <a:solidFill>
            <a:srgbClr val="112236"/>
          </a:solidFill>
          <a:ln w="12700">
            <a:solidFill>
              <a:srgbClr val="11223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63824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π/2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163824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ZZFeatureMap compat.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315968" y="3767328"/>
            <a:ext cx="192024" cy="0"/>
          </a:xfrm>
          <a:prstGeom prst="line">
            <a:avLst/>
          </a:prstGeom>
          <a:noFill/>
          <a:ln w="19050">
            <a:solidFill>
              <a:srgbClr val="6A8FA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17136" y="3246120"/>
            <a:ext cx="1143000" cy="1051560"/>
          </a:xfrm>
          <a:prstGeom prst="rect">
            <a:avLst/>
          </a:prstGeom>
          <a:solidFill>
            <a:srgbClr val="0090A8"/>
          </a:solidFill>
          <a:ln w="12700">
            <a:solidFill>
              <a:srgbClr val="0090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17136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60-qubit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ZZFeatureMap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17136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reps=8 or 24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669280" y="3767328"/>
            <a:ext cx="192024" cy="0"/>
          </a:xfrm>
          <a:prstGeom prst="line">
            <a:avLst/>
          </a:prstGeom>
          <a:noFill/>
          <a:ln w="19050">
            <a:solidFill>
              <a:srgbClr val="6A8F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70448" y="3246120"/>
            <a:ext cx="1143000" cy="105156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70448" y="3246120"/>
            <a:ext cx="1143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180-dim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870448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⟨X⟩,⟨Y⟩,⟨Z⟩ per qubit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02920" y="4480560"/>
            <a:ext cx="6720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construct: 4 motif positions × 15 categories = 60-dimensional one-hot vector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projection: 60 qubits × 3 Pauli bases (⟨X⟩,⟨Y⟩,⟨Z⟩) = 180-dimensional feature vector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292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Distribution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2920" y="5532120"/>
            <a:ext cx="6720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Nalm6 survival &lt; 62% → HIGH cytotoxicity (+1)  |  ≥ 62% → LOW cytotoxicity (−1)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80960" y="2651760"/>
            <a:ext cx="420624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90956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 Balance (Train + Test)</a:t>
            </a:r>
            <a:endParaRPr lang="en-US" sz="14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7680960" y="3154680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9" name="Shape 46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Approach: Projected Quantum Kernels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365760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36576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70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① ZZFeatureMap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60-qubit circuit with pairwise ZZ entanglement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qubit angle-encodes one feature (π/2 for presence)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controls circuit expressivity vs. noise trade-off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Utro et al. (2025): reps=8 is empirically optimal; reps=24 adds noise without benefit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on IBM Heron R2 (ibm_marrakesh)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min QPU time · 22 s/data point · 10,000 shots/expectation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60520" y="1051560"/>
            <a:ext cx="365760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60520" y="1051560"/>
            <a:ext cx="36576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170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② 1-RDM Measurement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43400" y="1664208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Single-qubit Pauli expectations ⟨X_k⟩, ⟨Y_k⟩, ⟨Z_k⟩ for all 60 qubits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ZNE error mitigation: gate folding, noise factors [1,3,5]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Pauli twirling randomizations per data point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TREX readout error correction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Layout: 64 twirled instances × 156 shots each = 10,000 shots/EV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180-dim projection vector per construct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051560"/>
            <a:ext cx="365760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051560"/>
            <a:ext cx="3657600" cy="7315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170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③ Projected Quantum Kernel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1664208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PQK is mathematically an RBF kernel on the 180-dim projections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k(xᵢ,xⱼ) = exp(−γ Σₖ Σ_P (Tr[Pρₖ(xᵢ)] − Tr[Pρₖ(xⱼ)])²)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kernel needed — standard sklearn RBF-SVM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6622-combination GridSearchCV · 10-fold stratified CV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hyperparameter grid for classical and quantum pipelines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weighted F1 (handles class imbalance)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0: Classical vs. Quantum-Projected SVM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CV F1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D4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0.773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84048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weighted (train)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CV F1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73552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D4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0.738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weighted (train)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99632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TEST ACC.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81344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79.7%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99632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97696" y="1051560"/>
            <a:ext cx="2651760" cy="1325880"/>
          </a:xfrm>
          <a:prstGeom prst="rect">
            <a:avLst/>
          </a:prstGeom>
          <a:solidFill>
            <a:srgbClr val="1A1005"/>
          </a:solidFill>
          <a:ln w="12700">
            <a:solidFill>
              <a:srgbClr val="1A100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07424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TEST ACC.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89136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82.4%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 over classical  ★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560320"/>
            <a:ext cx="594360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Comparison</a:t>
            </a:r>
            <a:endParaRPr lang="en-US" sz="15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274320" y="3017520"/>
          <a:ext cx="59436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6492240" y="2560320"/>
            <a:ext cx="539496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675120" y="2697480"/>
            <a:ext cx="5029200" cy="960120"/>
          </a:xfrm>
          <a:prstGeom prst="rect">
            <a:avLst/>
          </a:prstGeom>
          <a:solidFill>
            <a:srgbClr val="1A1005"/>
          </a:solidFill>
          <a:ln w="12700">
            <a:solidFill>
              <a:srgbClr val="1A100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75120" y="2697480"/>
            <a:ext cx="54864" cy="9601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275234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Generalization vs. Training Fit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58000" y="299923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CV F1 is lower (0.738 vs 0.773) but test accuracy is higher (82.4% vs 79.7%). The 180-dim projection imposes implicit regularization — it generalizes better despite fitting training data less tightly.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3794760"/>
            <a:ext cx="5029200" cy="960120"/>
          </a:xfrm>
          <a:prstGeom prst="rect">
            <a:avLst/>
          </a:prstGeom>
          <a:solidFill>
            <a:srgbClr val="112236"/>
          </a:solidFill>
          <a:ln w="12700">
            <a:solidFill>
              <a:srgbClr val="11223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3794760"/>
            <a:ext cx="54864" cy="960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384962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Consistent with Utro et al. (2025)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0" y="40965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 IBM Heron R2 (ibm_marrakesh): median F1 = 0.75 (quantum) vs 0.73 (classical), max F1 = 0.81 vs 0.77. QPU outperforms OBP classical simulation running 9× slower on HPC.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675120" y="4892040"/>
            <a:ext cx="5029200" cy="960120"/>
          </a:xfrm>
          <a:prstGeom prst="rect">
            <a:avLst/>
          </a:prstGeom>
          <a:solidFill>
            <a:srgbClr val="062010"/>
          </a:solidFill>
          <a:ln w="12700">
            <a:solidFill>
              <a:srgbClr val="06201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75120" y="4892040"/>
            <a:ext cx="54864" cy="96012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858000" y="4946904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Clinical Relevance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85800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LAT-derived motifs — preferred for antigen-low acute lymphoblastic leukemia (ALL) — show significant PQK improvement at all 3 positions tested. Quantum ML has a concrete clinical use case.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Kernel Structure: Classical vs. Quantum-Projected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/ 12</a:t>
            </a:r>
            <a:endParaRPr lang="en-US" sz="1100" dirty="0"/>
          </a:p>
        </p:txBody>
      </p:sp>
      <p:pic>
        <p:nvPicPr>
          <p:cNvPr id="6" name="Image 0" descr="/sessions/elegant-focused-hamilton/mnt/Quantum Hackathon with IBM Quantum/results/figures/kernel_heatma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22960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5285232"/>
            <a:ext cx="1161288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5349240"/>
            <a:ext cx="54864" cy="10515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3766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Sorted by class label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565099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ordered HIGH→LOW. Clear block structure (bright on-diagonal, dark off-diagonal) means the kernel cleanly separates classes.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3400" y="5349240"/>
            <a:ext cx="54864" cy="105156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53766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 line = class boundary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80560" y="565099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the division between HIGH (left) and LOW (right) cytotoxicity. Stronger contrast across this line → better-defined decision boundary.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183880" y="5349240"/>
            <a:ext cx="54864" cy="105156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53766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Quantum shows tighter blocks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321040" y="565099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quantum-projected kernel produces sharper within-class similarity and stronger between-class contrast, which translates directly to +2.7% test accuracy.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Encoding Paradox: Geometric Separation Theory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30352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Huang et al. (2021) Framework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separation g_cq measures how different the quantum and classical kernel spaces are relative to the training set size N: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5120640" cy="640080"/>
          </a:xfrm>
          <a:prstGeom prst="rect">
            <a:avLst/>
          </a:prstGeom>
          <a:solidFill>
            <a:srgbClr val="060E1A"/>
          </a:solidFill>
          <a:ln w="9525">
            <a:solidFill>
              <a:srgbClr val="0090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g_cq = √‖ √K_q · √K_c · (K_c + λI)⁻² · √K_c · √K_q ‖∞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Theory decision rule: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200400"/>
            <a:ext cx="4846320" cy="475488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1868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g_cq &gt;&gt; √N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321868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Quantum advantage possible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794760"/>
            <a:ext cx="4846320" cy="475488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8130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g_cq &lt;&lt; √N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38130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Classical should win or tie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46227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√N for our dataset: √172 = 13.11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theory is a sufficient (not necessary) condition — a large-N asymptotic bound that may not be tight in the sparse-data regime.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52160" y="1051560"/>
            <a:ext cx="603504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80760" y="118872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Encoding Paradox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16002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biological problem gives opposite theoretical predictions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depending on how you encode the features: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148840"/>
            <a:ext cx="2834640" cy="3794760"/>
          </a:xfrm>
          <a:prstGeom prst="rect">
            <a:avLst/>
          </a:prstGeom>
          <a:solidFill>
            <a:srgbClr val="1A1005"/>
          </a:solidFill>
          <a:ln w="12700">
            <a:solidFill>
              <a:srgbClr val="FF8C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99048" y="224028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One-hot, 4 positions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99048" y="2514600"/>
            <a:ext cx="2615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· 60-dim · reps=24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99048" y="28346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g_cq = 1.50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099048" y="3310128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8F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√N  = 13.11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099048" y="3767328"/>
            <a:ext cx="2615184" cy="0"/>
          </a:xfrm>
          <a:prstGeom prst="line">
            <a:avLst/>
          </a:prstGeom>
          <a:noFill/>
          <a:ln w="9525">
            <a:solidFill>
              <a:srgbClr val="FF8C0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6099048" y="3858768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classical should win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99048" y="418795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quantum wins +2.7%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2148840"/>
            <a:ext cx="2834640" cy="3794760"/>
          </a:xfrm>
          <a:prstGeom prst="rect">
            <a:avLst/>
          </a:prstGeom>
          <a:solidFill>
            <a:srgbClr val="062010"/>
          </a:solidFill>
          <a:ln w="12700">
            <a:solidFill>
              <a:srgbClr val="2ECC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62288" y="224028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Binary, 2 positions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62288" y="2514600"/>
            <a:ext cx="2615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Utro et al. · 30-dim · reps=8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62288" y="28346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 = 15.78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62288" y="3310128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8F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√N  = 13.11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162288" y="3767328"/>
            <a:ext cx="2615184" cy="0"/>
          </a:xfrm>
          <a:prstGeom prst="line">
            <a:avLst/>
          </a:prstGeom>
          <a:noFill/>
          <a:ln w="9525">
            <a:solidFill>
              <a:srgbClr val="2ECC71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162288" y="3858768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quantum can win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162288" y="418795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quantum wins 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989320" y="5577840"/>
            <a:ext cx="5943600" cy="438912"/>
          </a:xfrm>
          <a:prstGeom prst="rect">
            <a:avLst/>
          </a:prstGeom>
          <a:solidFill>
            <a:srgbClr val="060E1A"/>
          </a:solidFill>
          <a:ln w="9525">
            <a:solidFill>
              <a:srgbClr val="FF8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559612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encoding strategy determines which side of the theoretical threshold you land on — it is a scientific variable, not a preprocessing detail.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A: Where Does Quantum Win at the Sample Level?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325880"/>
          </a:xfrm>
          <a:prstGeom prst="rect">
            <a:avLst/>
          </a:prstGeom>
          <a:solidFill>
            <a:srgbClr val="062010"/>
          </a:solidFill>
          <a:ln w="12700">
            <a:solidFill>
              <a:srgbClr val="06201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CORRECT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84048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 of test set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2651760" cy="1325880"/>
          </a:xfrm>
          <a:prstGeom prst="rect">
            <a:avLst/>
          </a:prstGeom>
          <a:solidFill>
            <a:srgbClr val="1A1005"/>
          </a:solidFill>
          <a:ln w="12700">
            <a:solidFill>
              <a:srgbClr val="1A100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FIXES ★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73552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wrong, quantum right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051560"/>
            <a:ext cx="2651760" cy="1325880"/>
          </a:xfrm>
          <a:prstGeom prst="rect">
            <a:avLst/>
          </a:prstGeom>
          <a:solidFill>
            <a:srgbClr val="112236"/>
          </a:solidFill>
          <a:ln w="12700">
            <a:solidFill>
              <a:srgbClr val="11223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99632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FIXES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81344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99632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wrong, classical right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97696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07424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WRONG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89136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 of test set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560320"/>
            <a:ext cx="457200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2697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Classification Outcome Breakdown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274320" y="301752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5074920" y="2560320"/>
            <a:ext cx="374904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257800" y="2697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SVM Confidence by Outcome</a:t>
            </a:r>
            <a:endParaRPr lang="en-US" sz="1200" dirty="0"/>
          </a:p>
        </p:txBody>
      </p:sp>
      <p:pic>
        <p:nvPicPr>
          <p:cNvPr id="27" name="Image 0" descr="/sessions/elegant-focused-hamilton/mnt/Quantum Hackathon with IBM Quantum/results/figures/expA_confidence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063240"/>
            <a:ext cx="3657600" cy="29260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9098280" y="2560320"/>
            <a:ext cx="278892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9235440" y="26791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Cytotoxicity Score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</a:t>
            </a:r>
            <a:endParaRPr lang="en-US" sz="1200" dirty="0"/>
          </a:p>
        </p:txBody>
      </p:sp>
      <p:pic>
        <p:nvPicPr>
          <p:cNvPr id="30" name="Image 1" descr="/sessions/elegant-focused-hamilton/mnt/Quantum Hackathon with IBM Quantum/results/figures/expA_cytotox_distribu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182112"/>
            <a:ext cx="2788920" cy="283464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0" y="6080760"/>
            <a:ext cx="12161520" cy="521208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65760" y="6108192"/>
            <a:ext cx="1143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Quantum-fixed samples cluster near the 0.62 decision threshold with lower classical confidence — quantum projection reshapes the boundary exactly where one-hot features are most ambiguous.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C: Theory Tightness Across Training Set Size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713232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sessions/elegant-focused-hamilton/mnt/Quantum Hackathon with IBM Quantum/results/figures/expC_gcq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97280"/>
            <a:ext cx="70408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80960" y="1051560"/>
            <a:ext cx="420624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0956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g_cq / √N at Key Sizes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600200"/>
          <a:ext cx="3886200" cy="2651760"/>
        </p:xfrm>
        <a:graphic>
          <a:graphicData uri="http://schemas.openxmlformats.org/drawingml/2006/table">
            <a:tbl>
              <a:tblPr/>
              <a:tblGrid>
                <a:gridCol w="971550"/>
                <a:gridCol w="971550"/>
                <a:gridCol w="971550"/>
                <a:gridCol w="971550"/>
              </a:tblGrid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g_cq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818120" y="4434840"/>
            <a:ext cx="3886200" cy="713232"/>
          </a:xfrm>
          <a:prstGeom prst="rect">
            <a:avLst/>
          </a:prstGeom>
          <a:solidFill>
            <a:srgbClr val="060E1A"/>
          </a:solidFill>
          <a:ln w="9525">
            <a:solidFill>
              <a:srgbClr val="FF8C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55280" y="4489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Theory remains conservative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55280" y="47274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g_cq / √N rises from 0.115 at N=172 to 0.321 at N=10 — increases monotonically as data shrinks, but never approaches 1 in the one-hot setup.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818120" y="5239512"/>
            <a:ext cx="3886200" cy="713232"/>
          </a:xfrm>
          <a:prstGeom prst="rect">
            <a:avLst/>
          </a:prstGeom>
          <a:solidFill>
            <a:srgbClr val="060E1A"/>
          </a:solidFill>
          <a:ln w="9525">
            <a:solidFill>
              <a:srgbClr val="2ECC7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955280" y="529437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resolution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955280" y="55321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Utro et al.'s binary encoding gives g = 15.78 ≈ √N at the same N. Encoding choice, not data size, determines whether theory and experiment agree.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QPU Experiment on ibm_pittsburgh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ibm_pittsburgh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84048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127-qubit Heron processor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73552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reps = 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ZZFeatureMap · 60 qubits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9904" y="1051560"/>
            <a:ext cx="2651760" cy="132588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99632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RUN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81344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99632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constructs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97696" y="1051560"/>
            <a:ext cx="2651760" cy="1325880"/>
          </a:xfrm>
          <a:prstGeom prst="rect">
            <a:avLst/>
          </a:prstGeom>
          <a:solidFill>
            <a:srgbClr val="1A1005"/>
          </a:solidFill>
          <a:ln w="12700">
            <a:solidFill>
              <a:srgbClr val="1A100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07424" y="11430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PEARSON 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89136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0.16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10312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Heron R2 reference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560320"/>
            <a:ext cx="594360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26791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QPU vs. Pre-computed Heron R2</a:t>
            </a:r>
            <a:endParaRPr lang="en-US" sz="1300" dirty="0"/>
          </a:p>
        </p:txBody>
      </p:sp>
      <p:pic>
        <p:nvPicPr>
          <p:cNvPr id="24" name="Image 0" descr="/sessions/elegant-focused-hamilton/mnt/Quantum Hackathon with IBM Quantum/results/figures/qpu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3035808"/>
            <a:ext cx="5852160" cy="297180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492240" y="2560320"/>
            <a:ext cx="5394960" cy="365760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720840" y="26791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Per-Sample Pearson Correlations</a:t>
            </a:r>
            <a:endParaRPr lang="en-US" sz="13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492240" y="3035808"/>
          <a:ext cx="53949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Shape 24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12161520" cy="411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Genuine Scientific Finding: Circuit Depth Shapes Feature Space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0" y="182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48640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0" y="1051560"/>
            <a:ext cx="5852160" cy="50749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1887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reps Parameter Comparison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212080" cy="41148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</a:tblGrid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reps =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reps = 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1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2-qubit gate layers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2-qubit 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gate 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6,016+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Utro et al. median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 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Utro et al. max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 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tutorial default?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36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D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r (live vs. ref)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 — different 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8F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60E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40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63640" y="118872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 = 0.16 Is a Result, Not a Failure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72200" y="1691640"/>
            <a:ext cx="5486400" cy="9144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72200" y="1691640"/>
            <a:ext cx="64008" cy="91440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64224" y="1755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 Hilbert-space rotations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64224" y="20391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60-qubit ZZFeatureMap at reps=8 applies 32 layers of pairwise CZ gates. At reps=24 it applies 64 layers. These are distinct unitary transformations that project the same data into different quantum feature spaces.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2770632"/>
            <a:ext cx="5486400" cy="9144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2200" y="2770632"/>
            <a:ext cx="64008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4224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reproducibility failure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364224" y="311810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both circuits encoded identically, r would be ~1.0. r = 0.16 between reps=8 and reps=24 projections means the two circuits are genuinely different — as expected from circuit theory.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72200" y="3849624"/>
            <a:ext cx="5486400" cy="9144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72200" y="3849624"/>
            <a:ext cx="64008" cy="9144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64224" y="3913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Corroborated by Utro et al.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64224" y="41970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our live run, Utro et al. show that reps=8 achieves higher F1 than reps=24 on the same CAR-T classification task. The difference in feature space is not just measurable — it matters for classification.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172200" y="4928616"/>
            <a:ext cx="5486400" cy="91440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72200" y="4928616"/>
            <a:ext cx="64008" cy="9144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64224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59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reps is a scientific variable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364224" y="527608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IBM tutorial default of reps=24 is suboptimal for this task. Circuit depth should be treated as a meaningful model hyperparameter — not just a dial to turn up for expressivity.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41832"/>
            <a:ext cx="12161520" cy="41148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332720" y="10972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5760720" cy="2331720"/>
          </a:xfrm>
          <a:prstGeom prst="rect">
            <a:avLst/>
          </a:prstGeom>
          <a:solidFill>
            <a:srgbClr val="1A1005"/>
          </a:solidFill>
          <a:ln w="12700">
            <a:solidFill>
              <a:srgbClr val="1A100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57607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23444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Quantum projection outperforms classical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645920"/>
            <a:ext cx="54315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82.4% vs. 79.7% test accuracy (+2.7%)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PQK corrects 7 test samples classical misses; classical fixes only 5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Quantum-fixed samples cluster near the decision boundary — structural, not random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Utro et al. (2025) on Heron R2 hardware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143000"/>
            <a:ext cx="5760720" cy="23317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143000"/>
            <a:ext cx="576072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23444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Encoding determines the theoretical regime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28232" y="1645920"/>
            <a:ext cx="54315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(this work): g_cq = 1.50 &lt;&lt; √N = 13.1 — theory predicts classical wins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(Utro et al.): g = 15.78 ≈ √N — theory and experiment agree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biological problem; opposite theoretical predictions; both quantum wins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is a fundamental quantum ML design choice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657600"/>
            <a:ext cx="5760720" cy="2331720"/>
          </a:xfrm>
          <a:prstGeom prst="rect">
            <a:avLst/>
          </a:prstGeom>
          <a:solidFill>
            <a:srgbClr val="062010"/>
          </a:solidFill>
          <a:ln w="12700">
            <a:solidFill>
              <a:srgbClr val="06201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657600"/>
            <a:ext cx="576072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74904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Theory remains conservative in the one-hot regime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" y="4160520"/>
            <a:ext cx="54315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g_cq / √N rises from 0.115 (N=172) to 0.321 (N=10) — improves but never tightens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likely acts as implicit regularization in sparse combinatorial data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Large-N asymptotic bound is not predictive at N=172 for one-hot features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 most useful when encoding is chosen to maximize 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3657600"/>
            <a:ext cx="5760720" cy="2331720"/>
          </a:xfrm>
          <a:prstGeom prst="rect">
            <a:avLst/>
          </a:prstGeom>
          <a:solidFill>
            <a:srgbClr val="162B40"/>
          </a:solidFill>
          <a:ln w="12700">
            <a:solidFill>
              <a:srgbClr val="162B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3657600"/>
            <a:ext cx="57607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232" y="374904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59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QPU confirms circuit depth is a scientific parameter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28232" y="4160520"/>
            <a:ext cx="54315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constructs encoded and run on ibm_pittsburgh with ZNE error mitigation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Pearson r = 0.16 (reps=8 live vs. reps=24 Heron R2 reference)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 reflects genuinely different quantum feature spaces — expected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reps=8 outperforms reps=24 on F1 (Utro et al.); tutorials should use 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6327648"/>
            <a:ext cx="12161520" cy="27432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6336792"/>
            <a:ext cx="1161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Utro et al. arXiv:2507.22710 (2025)  ·  Huang et al. Nature Comms 12, 2631 (2021)  ·  Daniels et al. Science 378, 1194 (2022)  ·  IBM Qiskit PQK Tutorial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6611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UW–IBM Quantum Hackathon  ·  CAR-T Cytotoxicity  ·  Projected Quantum Kernels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ML for CAR-T Cytotoxicity Prediction</dc:title>
  <dc:subject>PptxGenJS Presentation</dc:subject>
  <dc:creator>UW–IBM Quantum Hackathon</dc:creator>
  <cp:lastModifiedBy>UW–IBM Quantum Hackathon</cp:lastModifiedBy>
  <cp:revision>1</cp:revision>
  <dcterms:created xsi:type="dcterms:W3CDTF">2026-05-15T06:23:10Z</dcterms:created>
  <dcterms:modified xsi:type="dcterms:W3CDTF">2026-05-15T06:23:10Z</dcterms:modified>
</cp:coreProperties>
</file>